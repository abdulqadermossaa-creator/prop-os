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3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64D2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657600"/>
            <a:ext cx="6400800" cy="6400800"/>
          </a:xfrm>
          <a:prstGeom prst="ellipse">
            <a:avLst/>
          </a:prstGeom>
          <a:solidFill>
            <a:srgbClr val="10B981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 SAUDI ARABIA ·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0" y="365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8B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PROTOTYPE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QLVN</a:t>
            </a:r>
            <a:endParaRPr lang="en-US" sz="13000" dirty="0"/>
          </a:p>
        </p:txBody>
      </p:sp>
      <p:sp>
        <p:nvSpPr>
          <p:cNvPr id="8" name="Text 6"/>
          <p:cNvSpPr/>
          <p:nvPr/>
        </p:nvSpPr>
        <p:spPr>
          <a:xfrm>
            <a:off x="6400800" y="20116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spc="800" kern="0" dirty="0">
                <a:solidFill>
                  <a:srgbClr val="64D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OS</a:t>
            </a:r>
            <a:endParaRPr lang="en-US" sz="130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System for Smart Hospitality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4434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تشغيل الضيافة الذكية · من الإدارة بالعين إلى الإدارة بالأرقام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6035040"/>
            <a:ext cx="10972800" cy="0"/>
          </a:xfrm>
          <a:prstGeom prst="line">
            <a:avLst/>
          </a:prstGeom>
          <a:noFill/>
          <a:ln w="12700">
            <a:solidFill>
              <a:srgbClr val="1A1A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172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B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DECK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Sulaiman Al-Qahtani · Founder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0" y="6172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0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· Production Ready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· المشكلة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managers fly blind.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شركات الإدارة تعمل بالحدس، لا بالبيانات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36118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926080"/>
            <a:ext cx="3611880" cy="73152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46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إدارة يدوية مرهقة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45262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تنسيق الأكواد والتنظيف بين عدة وحدات يستهلك ٤٠٪ من وقت المضيف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2926080"/>
            <a:ext cx="36118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2926080"/>
            <a:ext cx="3611880" cy="73152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3246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17720" y="3931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صفر بيانات تشغيلية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17720" y="45262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 يعرف متى خرج الضيف، لا يعرف نسبة التشغيل الفعلية، لا يعرف ROI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2926080"/>
            <a:ext cx="36118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2926080"/>
            <a:ext cx="361188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3246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412480" y="3931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ضياع فرص الدخل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12480" y="45262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تأخر في تجهيز الوحدة بعد المغادرة = خسارة حجوزات محتملة يومياً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011680" y="64465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 وقت المضيف يضيع في المهام اليدوية القابلة للأتمتة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3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1828800"/>
            <a:ext cx="6400800" cy="6400800"/>
          </a:xfrm>
          <a:prstGeom prst="ellipse">
            <a:avLst/>
          </a:prstGeom>
          <a:solidFill>
            <a:srgbClr val="64D2FF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B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 · الحل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+ Software + Data.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4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Three layers. Total visibility.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3611880" cy="3657600"/>
          </a:xfrm>
          <a:prstGeom prst="rect">
            <a:avLst/>
          </a:prstGeom>
          <a:solidFill>
            <a:srgbClr val="0A0A14"/>
          </a:solidFill>
          <a:ln w="12700">
            <a:solidFill>
              <a:srgbClr val="64D2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651760"/>
            <a:ext cx="3611880" cy="45720"/>
          </a:xfrm>
          <a:prstGeom prst="rect">
            <a:avLst/>
          </a:prstGeom>
          <a:solidFill>
            <a:srgbClr val="64D2F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80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64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EDGE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2296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Hardware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526280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Raspberry Pi في كل وحدة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حساسات حركة + نبض الجوال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أقفال ذكية + WiFi مشفر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اتصال MQTT / TLS 1.3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2651760"/>
            <a:ext cx="3611880" cy="3657600"/>
          </a:xfrm>
          <a:prstGeom prst="rect">
            <a:avLst/>
          </a:prstGeom>
          <a:solidFill>
            <a:srgbClr val="0A0A14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2651760"/>
            <a:ext cx="3611880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2880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617720" y="3566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1772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17720" y="4526280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٤ لوحات تحكم متخصصة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ربط Airbnb + Gathern تلقائي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Heartbeat + Silent Exit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أكواد عشوائية مشفرة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0" y="2651760"/>
            <a:ext cx="3611880" cy="3657600"/>
          </a:xfrm>
          <a:prstGeom prst="rect">
            <a:avLst/>
          </a:prstGeom>
          <a:solidFill>
            <a:srgbClr val="0A0A1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2651760"/>
            <a:ext cx="36118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2880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412480" y="3566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41248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0" y="4526280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ROI شهري لكل وحدة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نسبة التشغيل الحقيقية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سلوك الضيوف وأنماطهم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 Engine للدخل الإضافي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«من الإدارة بالعين إلى الإدارة بالأرقام»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· المنتج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interfaces. One ecosystem.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طرف يرى ما يحتاجه فقط · بأعلى مستويات الأمان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697480" cy="3474720"/>
          </a:xfrm>
          <a:prstGeom prst="rect">
            <a:avLst/>
          </a:prstGeom>
          <a:solidFill>
            <a:srgbClr val="FFFBF0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743200"/>
            <a:ext cx="2697480" cy="5486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017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👑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FOUNDER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لوحة المؤسس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709160"/>
            <a:ext cx="1463040" cy="274320"/>
          </a:xfrm>
          <a:prstGeom prst="rect">
            <a:avLst/>
          </a:prstGeom>
          <a:solidFill>
            <a:srgbClr val="D4A853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709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· مشفرة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5120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إدارة المنصة والمضيفين والاشتراكات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64992" y="2743200"/>
            <a:ext cx="2697480" cy="3474720"/>
          </a:xfrm>
          <a:prstGeom prst="rect">
            <a:avLst/>
          </a:prstGeom>
          <a:solidFill>
            <a:srgbClr val="F0FAFF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64992" y="2743200"/>
            <a:ext cx="2697480" cy="54864"/>
          </a:xfrm>
          <a:prstGeom prst="rect">
            <a:avLst/>
          </a:prstGeom>
          <a:solidFill>
            <a:srgbClr val="64D2FF"/>
          </a:solidFill>
          <a:ln/>
        </p:spPr>
      </p:sp>
      <p:sp>
        <p:nvSpPr>
          <p:cNvPr id="16" name="Text 14"/>
          <p:cNvSpPr/>
          <p:nvPr/>
        </p:nvSpPr>
        <p:spPr>
          <a:xfrm>
            <a:off x="3547872" y="3017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🏠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3547872" y="3794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HOST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547872" y="4297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لوحة المضيف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547872" y="4709160"/>
            <a:ext cx="1463040" cy="274320"/>
          </a:xfrm>
          <a:prstGeom prst="rect">
            <a:avLst/>
          </a:prstGeom>
          <a:solidFill>
            <a:srgbClr val="64D2FF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547872" y="4709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4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تحكم مباشر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47872" y="5120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إدارة الوحدات والأكواد والسجلات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81344" y="2743200"/>
            <a:ext cx="2697480" cy="3474720"/>
          </a:xfrm>
          <a:prstGeom prst="rect">
            <a:avLst/>
          </a:prstGeom>
          <a:solidFill>
            <a:srgbClr val="F0FDF4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81344" y="2743200"/>
            <a:ext cx="2697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6364224" y="3017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👤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6364224" y="3794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GUEST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364224" y="4297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بوابة الضيف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64224" y="4709160"/>
            <a:ext cx="1463040" cy="274320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364224" y="4709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· Heartbeat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64224" y="5120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كود الدخول والواي فاي والخدمات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997696" y="2743200"/>
            <a:ext cx="2697480" cy="3474720"/>
          </a:xfrm>
          <a:prstGeom prst="rect">
            <a:avLst/>
          </a:prstGeom>
          <a:solidFill>
            <a:srgbClr val="FAF5FF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97696" y="2743200"/>
            <a:ext cx="26974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9180576" y="3017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📱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9180576" y="3794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TABLET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180576" y="4297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تابلت الغرفة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180576" y="4709160"/>
            <a:ext cx="1463040" cy="274320"/>
          </a:xfrm>
          <a:prstGeom prst="rect">
            <a:avLst/>
          </a:prstGeom>
          <a:solidFill>
            <a:srgbClr val="8B5CF6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180576" y="4709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In-Room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180576" y="5120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تحكم بالبيئة وطلبات وخدمات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Privacy by Design · End-to-End Encryption · TLS 1.3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3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B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· المعمارية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to Cloud. End to End.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ربط مشفر بين العتاد والسحابة عبر بروتوكولات الصناعة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743200" cy="3200400"/>
          </a:xfrm>
          <a:prstGeom prst="rect">
            <a:avLst/>
          </a:prstGeom>
          <a:solidFill>
            <a:srgbClr val="0A0A14"/>
          </a:solidFill>
          <a:ln w="19050">
            <a:solidFill>
              <a:srgbClr val="64D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926080"/>
            <a:ext cx="2743200" cy="54864"/>
          </a:xfrm>
          <a:prstGeom prst="rect">
            <a:avLst/>
          </a:prstGeom>
          <a:solidFill>
            <a:srgbClr val="64D2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00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64D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PROPERTY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في الموقع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Raspberry Pi 4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Smart Lock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Motion Sensor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WiFi Network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926080"/>
            <a:ext cx="2743200" cy="3200400"/>
          </a:xfrm>
          <a:prstGeom prst="rect">
            <a:avLst/>
          </a:prstGeom>
          <a:solidFill>
            <a:srgbClr val="0A0A14"/>
          </a:solidFill>
          <a:ln w="19050">
            <a:solidFill>
              <a:srgbClr val="D4A8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2926080"/>
            <a:ext cx="2743200" cy="5486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3200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D4A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37760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السحابة المشفرة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42062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Supabase / Firebase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Real-time Database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iCal Sync Engine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Ad Engine API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61120" y="2926080"/>
            <a:ext cx="2743200" cy="3200400"/>
          </a:xfrm>
          <a:prstGeom prst="rect">
            <a:avLst/>
          </a:prstGeom>
          <a:solidFill>
            <a:srgbClr val="0A0A1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0" y="2926080"/>
            <a:ext cx="27432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0" y="3200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44000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المستخدمين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0" y="42062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Web App (PWA)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Mobile (iOS/Android)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In-Room Tablet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WhatsApp Bot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37560" y="4526280"/>
            <a:ext cx="1371600" cy="0"/>
          </a:xfrm>
          <a:prstGeom prst="line">
            <a:avLst/>
          </a:prstGeom>
          <a:noFill/>
          <a:ln w="25400">
            <a:solidFill>
              <a:srgbClr val="D4A8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4343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A853"/>
                </a:solidFill>
              </a:rPr>
              <a:t>▶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543800" y="4526280"/>
            <a:ext cx="1371600" cy="0"/>
          </a:xfrm>
          <a:prstGeom prst="line">
            <a:avLst/>
          </a:prstGeom>
          <a:noFill/>
          <a:ln w="25400">
            <a:solidFill>
              <a:srgbClr val="D4A8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78240" y="4343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A853"/>
                </a:solidFill>
              </a:rPr>
              <a:t>▶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6400800"/>
            <a:ext cx="1691640" cy="274320"/>
          </a:xfrm>
          <a:prstGeom prst="rect">
            <a:avLst/>
          </a:prstGeom>
          <a:solidFill>
            <a:srgbClr val="64D2FF">
              <a:alpha val="12000"/>
            </a:srgbClr>
          </a:solidFill>
          <a:ln w="12700">
            <a:solidFill>
              <a:srgbClr val="64D2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400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23160" y="6400800"/>
            <a:ext cx="1691640" cy="274320"/>
          </a:xfrm>
          <a:prstGeom prst="rect">
            <a:avLst/>
          </a:prstGeom>
          <a:solidFill>
            <a:srgbClr val="64D2FF">
              <a:alpha val="12000"/>
            </a:srgbClr>
          </a:solidFill>
          <a:ln w="12700">
            <a:solidFill>
              <a:srgbClr val="64D2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23160" y="6400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1.3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97680" y="6400800"/>
            <a:ext cx="1691640" cy="274320"/>
          </a:xfrm>
          <a:prstGeom prst="rect">
            <a:avLst/>
          </a:prstGeom>
          <a:solidFill>
            <a:srgbClr val="64D2FF">
              <a:alpha val="12000"/>
            </a:srgbClr>
          </a:solidFill>
          <a:ln w="12700">
            <a:solidFill>
              <a:srgbClr val="64D2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0" y="6400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72200" y="6400800"/>
            <a:ext cx="1691640" cy="274320"/>
          </a:xfrm>
          <a:prstGeom prst="rect">
            <a:avLst/>
          </a:prstGeom>
          <a:solidFill>
            <a:srgbClr val="64D2FF">
              <a:alpha val="12000"/>
            </a:srgbClr>
          </a:solidFill>
          <a:ln w="12700">
            <a:solidFill>
              <a:srgbClr val="64D2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6400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046720" y="6400800"/>
            <a:ext cx="1691640" cy="274320"/>
          </a:xfrm>
          <a:prstGeom prst="rect">
            <a:avLst/>
          </a:prstGeom>
          <a:solidFill>
            <a:srgbClr val="64D2FF">
              <a:alpha val="12000"/>
            </a:srgbClr>
          </a:solidFill>
          <a:ln w="12700">
            <a:solidFill>
              <a:srgbClr val="64D2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0" y="6400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921240" y="6400800"/>
            <a:ext cx="1691640" cy="274320"/>
          </a:xfrm>
          <a:prstGeom prst="rect">
            <a:avLst/>
          </a:prstGeom>
          <a:solidFill>
            <a:srgbClr val="64D2FF">
              <a:alpha val="12000"/>
            </a:srgbClr>
          </a:solidFill>
          <a:ln w="12700">
            <a:solidFill>
              <a:srgbClr val="64D2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21240" y="6400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iCal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· نموذج العمل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streams. Recurring revenue.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نموذج إيرادات متعدد · الاشتراكات هي الأساس · البيانات هي المضاعف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743200"/>
            <a:ext cx="73152" cy="1691640"/>
          </a:xfrm>
          <a:prstGeom prst="rect">
            <a:avLst/>
          </a:prstGeom>
          <a:solidFill>
            <a:srgbClr val="64D2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80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D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اشتراكات شهرية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886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الدخل الأساسي · يتدفق شهرياً · قابل للتوسع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0" y="30175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64D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420624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ر.س / وحدة / شهر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274320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743200"/>
            <a:ext cx="73152" cy="169164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880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Setup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تركيب الأجهزة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3886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+ قفل ذكي + حساسات + تركيب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875520" y="30175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D4A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1,500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987552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ر.س لمرة واحدة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617720"/>
            <a:ext cx="73152" cy="1691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Engine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22960" y="5394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محرك الإعلانات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5760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إعلانات محلية للضيوف · شراكات تجارية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06240" y="48920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4200" dirty="0"/>
          </a:p>
        </p:txBody>
      </p:sp>
      <p:sp>
        <p:nvSpPr>
          <p:cNvPr id="29" name="Text 27"/>
          <p:cNvSpPr/>
          <p:nvPr/>
        </p:nvSpPr>
        <p:spPr>
          <a:xfrm>
            <a:off x="4206240" y="5760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هامش ربح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461772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4617720"/>
            <a:ext cx="73152" cy="1691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9224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492240" y="5394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عمولات الخدمات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92240" y="5760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توصيل، مطاعم، تنظيف · شراكات صامتة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875520" y="48920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4200" dirty="0"/>
          </a:p>
        </p:txBody>
      </p:sp>
      <p:sp>
        <p:nvSpPr>
          <p:cNvPr id="37" name="Text 35"/>
          <p:cNvSpPr/>
          <p:nvPr/>
        </p:nvSpPr>
        <p:spPr>
          <a:xfrm>
            <a:off x="9875520" y="5760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 كل طلب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١٠٠ وحدة × ٣٠٠ ر.س = ٣٦٠,٠٠٠ ر.س / السنة من الاشتراكات فقط (قبل احتساب الإعلانات والتركيب)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3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743200"/>
            <a:ext cx="7315200" cy="7315200"/>
          </a:xfrm>
          <a:prstGeom prst="ellipse">
            <a:avLst/>
          </a:prstGeom>
          <a:solidFill>
            <a:srgbClr val="D4A853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B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· البيانات أصل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the moat.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البيانات هي الحصن · كل وحدة جديدة تجعل المنصة أذكى وأغنى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5394960" cy="3657600"/>
          </a:xfrm>
          <a:prstGeom prst="rect">
            <a:avLst/>
          </a:prstGeom>
          <a:solidFill>
            <a:srgbClr val="0A0A14"/>
          </a:solidFill>
          <a:ln w="12700">
            <a:solidFill>
              <a:srgbClr val="64D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4D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COLLECT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نجمعه من كل وحدة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4937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أوقات الدخول والخروج الفعلية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مدة الإقامة الحقيقية لكل ضيف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  استهلاك الكهرباء والمكيف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  حركة الأبواب والنشاط داخل الوحدة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العروض التي ضغط عليها الضيف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أنماط الحجز حسب الموسم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651760"/>
            <a:ext cx="5394960" cy="3657600"/>
          </a:xfrm>
          <a:prstGeom prst="rect">
            <a:avLst/>
          </a:prstGeom>
          <a:solidFill>
            <a:srgbClr val="0A0A14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4A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IT BECOMES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تتحول إليه البيانات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3611880"/>
            <a:ext cx="4937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تقارير ROI شهرية للمستثمر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تسعير ديناميكي حسب الموسم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تنبؤ بأوقات الإشغال الأعلى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توصيات لتحسين الوحدة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إعلانات موجهة بدقة عالية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معايير المرجعية (Benchmarks)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«التفوق المعرفي»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03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1828800"/>
            <a:ext cx="8229600" cy="8229600"/>
          </a:xfrm>
          <a:prstGeom prst="ellipse">
            <a:avLst/>
          </a:prstGeom>
          <a:solidFill>
            <a:srgbClr val="64D2FF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2743200"/>
            <a:ext cx="7315200" cy="7315200"/>
          </a:xfrm>
          <a:prstGeom prst="ellipse">
            <a:avLst/>
          </a:prstGeom>
          <a:solidFill>
            <a:srgbClr val="D4A853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B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 · الفرصة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by data,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i="1" dirty="0">
                <a:solidFill>
                  <a:srgbClr val="64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by guesswork.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أدِر بالبيانات، لا بالحدس.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3611880" cy="1645920"/>
          </a:xfrm>
          <a:prstGeom prst="rect">
            <a:avLst/>
          </a:prstGeom>
          <a:solidFill>
            <a:srgbClr val="0A0A14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389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الشراكة الميدانية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8920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نُركّب · ندير · نحلل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43400" y="4114800"/>
            <a:ext cx="3611880" cy="1645920"/>
          </a:xfrm>
          <a:prstGeom prst="rect">
            <a:avLst/>
          </a:prstGeom>
          <a:solidFill>
            <a:srgbClr val="0A0A14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4389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البيانات المشتركة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7720" y="48920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وصول حصري للمستثمر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138160" y="4114800"/>
            <a:ext cx="3611880" cy="1645920"/>
          </a:xfrm>
          <a:prstGeom prst="rect">
            <a:avLst/>
          </a:prstGeom>
          <a:solidFill>
            <a:srgbClr val="0A0A14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4389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من النمو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0" y="48920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تشترك في كل وحدة جديدة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6217920"/>
            <a:ext cx="11064240" cy="0"/>
          </a:xfrm>
          <a:prstGeom prst="line">
            <a:avLst/>
          </a:prstGeom>
          <a:noFill/>
          <a:ln w="12700">
            <a:solidFill>
              <a:srgbClr val="1A1A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Sulaiman Al-Qahtani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629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· QLVN OS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0" y="6355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contact@qlvn.os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0" y="6629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qdros-demo.netlify.app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QLVN OS - Smart Property Operating System</dc:title>
  <dc:subject>PptxGenJS Presentation</dc:subject>
  <dc:creator>Sulaiman Al-Qahtani</dc:creator>
  <cp:lastModifiedBy>Sulaiman Al-Qahtani</cp:lastModifiedBy>
  <cp:revision>1</cp:revision>
  <dcterms:created xsi:type="dcterms:W3CDTF">2026-05-12T15:56:27Z</dcterms:created>
  <dcterms:modified xsi:type="dcterms:W3CDTF">2026-05-12T15:56:27Z</dcterms:modified>
</cp:coreProperties>
</file>