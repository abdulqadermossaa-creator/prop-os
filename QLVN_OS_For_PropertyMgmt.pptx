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03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1828800"/>
            <a:ext cx="7315200" cy="7315200"/>
          </a:xfrm>
          <a:prstGeom prst="ellipse">
            <a:avLst/>
          </a:prstGeom>
          <a:solidFill>
            <a:srgbClr val="D4A853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3657600"/>
            <a:ext cx="6400800" cy="6400800"/>
          </a:xfrm>
          <a:prstGeom prst="ellipse">
            <a:avLst/>
          </a:prstGeom>
          <a:solidFill>
            <a:srgbClr val="64D2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شراكة استراتيجية · لشركات إدارة الأملاك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1338560" y="457200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0" y="365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8B8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EXCLUSIVE PROPOSAL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spc="8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QLVN</a:t>
            </a:r>
            <a:endParaRPr lang="en-US" sz="13000" dirty="0"/>
          </a:p>
        </p:txBody>
      </p:sp>
      <p:sp>
        <p:nvSpPr>
          <p:cNvPr id="8" name="Text 6"/>
          <p:cNvSpPr/>
          <p:nvPr/>
        </p:nvSpPr>
        <p:spPr>
          <a:xfrm>
            <a:off x="6400800" y="201168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spc="800" kern="0" dirty="0">
                <a:solidFill>
                  <a:srgbClr val="D4A8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OS</a:t>
            </a:r>
            <a:endParaRPr lang="en-US" sz="13000" dirty="0"/>
          </a:p>
        </p:txBody>
      </p:sp>
      <p:sp>
        <p:nvSpPr>
          <p:cNvPr id="9" name="Text 7"/>
          <p:cNvSpPr/>
          <p:nvPr/>
        </p:nvSpPr>
        <p:spPr>
          <a:xfrm>
            <a:off x="548640" y="3840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properties into smart assets.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48640" y="4434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حوّل العقارات التي تديرها إلى أصول ذكية ترفع قيمتها وتسهّل إدارتها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6035040"/>
            <a:ext cx="10972800" cy="0"/>
          </a:xfrm>
          <a:prstGeom prst="line">
            <a:avLst/>
          </a:prstGeom>
          <a:noFill/>
          <a:ln w="12700">
            <a:solidFill>
              <a:srgbClr val="1A1A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6172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8B8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مقدّم لـ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شركة [اسم الشركة]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0" y="6172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6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0" y="6446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8B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سليمان القحطاني · مؤسس QLVN OS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REALITY · واقع شركتك اليوم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تدير العقارات بنفس طريقة 1995.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بينما السوق يتطور · والملاك يطلبون أكثر · والمنافسون يبحثون عن نقطة دخول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55321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743200"/>
            <a:ext cx="73152" cy="1783080"/>
          </a:xfrm>
          <a:prstGeom prst="rect">
            <a:avLst/>
          </a:prstGeom>
          <a:solidFill>
            <a:srgbClr val="FF3B3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📞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554480" y="3017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اتصالات لا تنتهي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554480" y="35204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كل ضيف يتصل: «الكود ماشتغل»، «الواي فاي»، «الإضاءة»...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320040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+50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754880" y="38862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اتصال/يوم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2743200"/>
            <a:ext cx="55321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2743200"/>
            <a:ext cx="73152" cy="1783080"/>
          </a:xfrm>
          <a:prstGeom prst="rect">
            <a:avLst/>
          </a:prstGeom>
          <a:solidFill>
            <a:srgbClr val="FF3B30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🔑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7223760" y="3017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تنسيق المفاتيح والأكواد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223760" y="35204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موظف يدور بين الوحدات لتسليم المفاتيح وتغيير الأكواد يدوياً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424160" y="320040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3-4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10424160" y="38862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ساعات/يوم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663440"/>
            <a:ext cx="55321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663440"/>
            <a:ext cx="73152" cy="1783080"/>
          </a:xfrm>
          <a:prstGeom prst="rect">
            <a:avLst/>
          </a:prstGeom>
          <a:solidFill>
            <a:srgbClr val="FF3B30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937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🧹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1554480" y="4937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تنظيف بدون تنبؤ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554480" y="54406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عمال نظافة ينتظرون «الاتصال» بدل أن يكون مجدول تلقائياً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51206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30%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4754880" y="58064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وقت ضائع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17920" y="4663440"/>
            <a:ext cx="55321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0" y="4663440"/>
            <a:ext cx="73152" cy="1783080"/>
          </a:xfrm>
          <a:prstGeom prst="rect">
            <a:avLst/>
          </a:prstGeom>
          <a:solidFill>
            <a:srgbClr val="FF3B30"/>
          </a:solidFill>
          <a:ln/>
        </p:spPr>
      </p:sp>
      <p:sp>
        <p:nvSpPr>
          <p:cNvPr id="29" name="Text 27"/>
          <p:cNvSpPr/>
          <p:nvPr/>
        </p:nvSpPr>
        <p:spPr>
          <a:xfrm>
            <a:off x="6492240" y="4937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7223760" y="4937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تقارير للملاك بالإكسل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7223760" y="54406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نهاية كل شهر، ساعات في تجهيز تقرير لكل مالك يدوياً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424160" y="51206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10424160" y="58064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بيانات لحظية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65379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هذا اللي يصير اليوم · بكره ممكن يكون مختلف تماماً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303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2743200"/>
            <a:ext cx="7315200" cy="7315200"/>
          </a:xfrm>
          <a:prstGeom prst="ellipse">
            <a:avLst/>
          </a:prstGeom>
          <a:solidFill>
            <a:srgbClr val="10B981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8B8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TRANSFORMATION · التحوّل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شركتك بعد QLVN OS.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نفس الشركة · نفس الفريق · نتائج مختلفة جذرياً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5532120" cy="457200"/>
          </a:xfrm>
          <a:prstGeom prst="rect">
            <a:avLst/>
          </a:prstGeom>
          <a:solidFill>
            <a:srgbClr val="FF3B30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080760" y="2743200"/>
            <a:ext cx="5532120" cy="457200"/>
          </a:xfrm>
          <a:prstGeom prst="rect">
            <a:avLst/>
          </a:prstGeom>
          <a:solidFill>
            <a:srgbClr val="10B981">
              <a:alpha val="3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743200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BEFORE · الوضع الحالي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80760" y="2743200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AFTER · بعد QLVN OS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291840"/>
            <a:ext cx="5532120" cy="502920"/>
          </a:xfrm>
          <a:prstGeom prst="rect">
            <a:avLst/>
          </a:prstGeom>
          <a:solidFill>
            <a:srgbClr val="0A0A14"/>
          </a:solidFill>
          <a:ln w="12700">
            <a:solidFill>
              <a:srgbClr val="1A1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80760" y="3291840"/>
            <a:ext cx="5532120" cy="502920"/>
          </a:xfrm>
          <a:prstGeom prst="rect">
            <a:avLst/>
          </a:prstGeom>
          <a:solidFill>
            <a:srgbClr val="0A0A1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29184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✕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32918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موظف يدور بالمفاتيح بين الوحدات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63640" y="329184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29400" y="32918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كود يولّد ويصل لجوال الضيف تلقائياً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886200"/>
            <a:ext cx="5532120" cy="502920"/>
          </a:xfrm>
          <a:prstGeom prst="rect">
            <a:avLst/>
          </a:prstGeom>
          <a:solidFill>
            <a:srgbClr val="0A0A14"/>
          </a:solidFill>
          <a:ln w="12700">
            <a:solidFill>
              <a:srgbClr val="1A1A2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3886200"/>
            <a:ext cx="5532120" cy="502920"/>
          </a:xfrm>
          <a:prstGeom prst="rect">
            <a:avLst/>
          </a:prstGeom>
          <a:solidFill>
            <a:srgbClr val="0A0A1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88620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✕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3886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اتصالات شكاوى يومية لا تنتهي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63640" y="388620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29400" y="3886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تابلت داخل الشقة يجاوب كل أسئلة الضيف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480560"/>
            <a:ext cx="5532120" cy="502920"/>
          </a:xfrm>
          <a:prstGeom prst="rect">
            <a:avLst/>
          </a:prstGeom>
          <a:solidFill>
            <a:srgbClr val="0A0A14"/>
          </a:solidFill>
          <a:ln w="12700">
            <a:solidFill>
              <a:srgbClr val="1A1A2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80760" y="4480560"/>
            <a:ext cx="5532120" cy="502920"/>
          </a:xfrm>
          <a:prstGeom prst="rect">
            <a:avLst/>
          </a:prstGeom>
          <a:solidFill>
            <a:srgbClr val="0A0A1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48056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✕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97280" y="44805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تقارير شهرية يدوية للملاك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63640" y="448056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629400" y="44805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داشبورد لحظي يفتحه المالك من جواله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5074920"/>
            <a:ext cx="5532120" cy="502920"/>
          </a:xfrm>
          <a:prstGeom prst="rect">
            <a:avLst/>
          </a:prstGeom>
          <a:solidFill>
            <a:srgbClr val="0A0A14"/>
          </a:solidFill>
          <a:ln w="12700">
            <a:solidFill>
              <a:srgbClr val="1A1A2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80760" y="5074920"/>
            <a:ext cx="5532120" cy="502920"/>
          </a:xfrm>
          <a:prstGeom prst="rect">
            <a:avLst/>
          </a:prstGeom>
          <a:solidFill>
            <a:srgbClr val="0A0A1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507492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✕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97280" y="50749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لا نعرف متى يغادر الضيف فعلياً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63640" y="507492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629400" y="50749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نظام Heartbeat يعرف خلال دقائق ويبدأ التنظيف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5669280"/>
            <a:ext cx="5532120" cy="502920"/>
          </a:xfrm>
          <a:prstGeom prst="rect">
            <a:avLst/>
          </a:prstGeom>
          <a:solidFill>
            <a:srgbClr val="0A0A14"/>
          </a:solidFill>
          <a:ln w="12700">
            <a:solidFill>
              <a:srgbClr val="1A1A2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80760" y="5669280"/>
            <a:ext cx="5532120" cy="502920"/>
          </a:xfrm>
          <a:prstGeom prst="rect">
            <a:avLst/>
          </a:prstGeom>
          <a:solidFill>
            <a:srgbClr val="0A0A1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566928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✕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097280" y="56692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ميزة وحيدة: الموقع والسعر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263640" y="566928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629400" y="56692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ميزة جديدة: شقق ذكية بتقنية QLVN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YOUR CLIENTS · لعملائك (الملاك)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 الذي ستقدمه للملاك؟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شي ما يقدر يقدمه أي مكتب إدارة آخر في المنطقة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36118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743200"/>
            <a:ext cx="3611880" cy="54864"/>
          </a:xfrm>
          <a:prstGeom prst="rect">
            <a:avLst/>
          </a:prstGeom>
          <a:solidFill>
            <a:srgbClr val="64D2F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9718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508760" y="3017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تطبيق المالك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6576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يفتح جواله ويشوف عقاره مباشرة · دخل · حجوزات · صور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25112" y="2743200"/>
            <a:ext cx="36118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2743200"/>
            <a:ext cx="36118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4599432" y="29718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285232" y="3017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تقارير ROI لحظية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99432" y="36576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 ينتظر نهاية الشهر · يعرف عوائد كل ليلة بالأرقام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01584" y="2743200"/>
            <a:ext cx="36118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01584" y="2743200"/>
            <a:ext cx="3611880" cy="54864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8" name="Text 16"/>
          <p:cNvSpPr/>
          <p:nvPr/>
        </p:nvSpPr>
        <p:spPr>
          <a:xfrm>
            <a:off x="8375904" y="29718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🔐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061704" y="3017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أمان وراحة بال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75904" y="36576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يعرف من دخل عقاره ومتى · سجل كامل مشفر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617720"/>
            <a:ext cx="36118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617720"/>
            <a:ext cx="3611880" cy="54864"/>
          </a:xfrm>
          <a:prstGeom prst="rect">
            <a:avLst/>
          </a:prstGeom>
          <a:solidFill>
            <a:srgbClr val="64D2FF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8463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1508760" y="4892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مقارنة الأداء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22960" y="55321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يقارن عقاره مع متوسط الحي · يعرف وين موقعه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25112" y="4617720"/>
            <a:ext cx="36118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25112" y="4617720"/>
            <a:ext cx="36118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4599432" y="48463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5285232" y="4892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اقتراحات لزيادة الدخل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599432" y="55321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النظام يقترح: «ارفع السعر»، «أضف خدمة»، «حدّث صور»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101584" y="4617720"/>
            <a:ext cx="36118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01584" y="4617720"/>
            <a:ext cx="3611880" cy="54864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3" name="Text 31"/>
          <p:cNvSpPr/>
          <p:nvPr/>
        </p:nvSpPr>
        <p:spPr>
          <a:xfrm>
            <a:off x="8375904" y="48463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🏆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9061704" y="4892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قيمة العقار ترتفع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375904" y="55321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عقار «ذكي» = يؤجر أسرع وبسعر أعلى من المنافس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6492240"/>
            <a:ext cx="11064240" cy="3200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64922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«المالك بيحس إن عقاره معك آمن، شفاف، ويربح أكثر»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303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1828800"/>
            <a:ext cx="7315200" cy="7315200"/>
          </a:xfrm>
          <a:prstGeom prst="ellipse">
            <a:avLst/>
          </a:prstGeom>
          <a:solidFill>
            <a:srgbClr val="D4A853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8B8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THE BOX · شركتك مختلفة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 شركة إدارة...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i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إلى شركة PropTech.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5349240" cy="3108960"/>
          </a:xfrm>
          <a:prstGeom prst="rect">
            <a:avLst/>
          </a:prstGeom>
          <a:solidFill>
            <a:srgbClr val="0A0A14"/>
          </a:solidFill>
          <a:ln w="12700">
            <a:solidFill>
              <a:srgbClr val="1A1A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3375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B8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المكاتب الأخرى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37033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Property Management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4160520"/>
            <a:ext cx="48463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8B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خدمة تشغيل وصيانة عادية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8B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تقارير شهرية ورقية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8B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يأخذون عمولة من الإيجار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8B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ميزة وحيدة: السعر الأرخص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8B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صعب جذب ملاك جدد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3108960"/>
            <a:ext cx="5349240" cy="3108960"/>
          </a:xfrm>
          <a:prstGeom prst="rect">
            <a:avLst/>
          </a:prstGeom>
          <a:solidFill>
            <a:srgbClr val="0A0A14"/>
          </a:solidFill>
          <a:ln w="25400">
            <a:solidFill>
              <a:srgbClr val="D4A85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3108960"/>
            <a:ext cx="5349240" cy="4572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33375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أنت مع QLVN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37033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Property Company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92240" y="4160520"/>
            <a:ext cx="48463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شركة تقنية تدير العقارات الذكية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تطبيق لحظي للمالك على جواله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تأخذ عمولة + رسوم تقنية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ميزات لا يقدر أحد منافستها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الملاك يبحثون عنك أنت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لما يبحث أي مالك في الرياض عن شركة إدارة... اسمك يطلع أول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IMPACT · الأثر المالي عليك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كم تربح أكثر؟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أرقام واقعية لشركة تدير 100 وحدة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5532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743200"/>
            <a:ext cx="73152" cy="1691640"/>
          </a:xfrm>
          <a:prstGeom prst="rect">
            <a:avLst/>
          </a:prstGeom>
          <a:solidFill>
            <a:srgbClr val="FF3B3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880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154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تخفيض التكاليف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36118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موظفون أقل · مكالمات أقل · انتقالات أقل بين الوحدات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06240" y="30175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800" b="1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-40%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206240" y="3840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تشغيلية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2743200"/>
            <a:ext cx="5532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2743200"/>
            <a:ext cx="73152" cy="1691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2880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92240" y="3154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زيادة الإشغال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92240" y="36118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تنظيف أسرع = توفر الوحدة للحجز التالي بدل من انتظار يوم كامل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875520" y="30175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+15%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9875520" y="3840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نسبة الحجز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617720"/>
            <a:ext cx="5532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617720"/>
            <a:ext cx="73152" cy="1691640"/>
          </a:xfrm>
          <a:prstGeom prst="rect">
            <a:avLst/>
          </a:prstGeom>
          <a:solidFill>
            <a:srgbClr val="64D2FF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D2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029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رسوم تقنية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22960" y="54864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اضربها للمالك كقيمة مضافة شهرية · هو فرحان وأنت كاسب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206240" y="48920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800" b="1" dirty="0">
                <a:solidFill>
                  <a:srgbClr val="64D2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+50</a:t>
            </a:r>
            <a:endParaRPr lang="en-US" sz="3800" dirty="0"/>
          </a:p>
        </p:txBody>
      </p:sp>
      <p:sp>
        <p:nvSpPr>
          <p:cNvPr id="26" name="Text 24"/>
          <p:cNvSpPr/>
          <p:nvPr/>
        </p:nvSpPr>
        <p:spPr>
          <a:xfrm>
            <a:off x="4206240" y="5715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ر.س / وحدة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17920" y="4617720"/>
            <a:ext cx="5532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0" y="4617720"/>
            <a:ext cx="73152" cy="169164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29" name="Text 27"/>
          <p:cNvSpPr/>
          <p:nvPr/>
        </p:nvSpPr>
        <p:spPr>
          <a:xfrm>
            <a:off x="649224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92240" y="5029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ملاك جدد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6492240" y="54864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الملاك يجون لك بدل ما تدور عليهم · سمعة + تمييز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875520" y="48920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800" b="1" dirty="0">
                <a:solidFill>
                  <a:srgbClr val="D4A8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×2</a:t>
            </a:r>
            <a:endParaRPr lang="en-US" sz="3800" dirty="0"/>
          </a:p>
        </p:txBody>
      </p:sp>
      <p:sp>
        <p:nvSpPr>
          <p:cNvPr id="33" name="Text 31"/>
          <p:cNvSpPr/>
          <p:nvPr/>
        </p:nvSpPr>
        <p:spPr>
          <a:xfrm>
            <a:off x="9875520" y="5715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معدل النمو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100 وحدة × 50 ر.س رسوم تقنية = 5,000 ر.س / شهر دخل صافي إضافي (60,000 ر.س / سنة)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303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8B8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 · كيف نشتغل سوا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الشراكة · بكل بساطة.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نحن نوفر التقنية · أنت توفر العقارات · نقسم النمو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2697480" cy="2743200"/>
          </a:xfrm>
          <a:prstGeom prst="rect">
            <a:avLst/>
          </a:prstGeom>
          <a:solidFill>
            <a:srgbClr val="0A0A14"/>
          </a:solidFill>
          <a:ln w="12700">
            <a:solidFill>
              <a:srgbClr val="64D2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743200"/>
            <a:ext cx="2697480" cy="54864"/>
          </a:xfrm>
          <a:prstGeom prst="rect">
            <a:avLst/>
          </a:prstGeom>
          <a:solidFill>
            <a:srgbClr val="64D2FF"/>
          </a:solidFill>
          <a:ln/>
        </p:spPr>
      </p:sp>
      <p:sp>
        <p:nvSpPr>
          <p:cNvPr id="8" name="Shape 6"/>
          <p:cNvSpPr/>
          <p:nvPr/>
        </p:nvSpPr>
        <p:spPr>
          <a:xfrm>
            <a:off x="1463040" y="3108960"/>
            <a:ext cx="868680" cy="868680"/>
          </a:xfrm>
          <a:prstGeom prst="ellipse">
            <a:avLst/>
          </a:prstGeom>
          <a:solidFill>
            <a:srgbClr val="64D2FF">
              <a:alpha val="20000"/>
            </a:srgbClr>
          </a:solidFill>
          <a:ln w="12700">
            <a:solidFill>
              <a:srgbClr val="64D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31089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4D2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731520" y="4160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نلتقي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2960" y="46634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تختار 3-5 وحدات للبدء · نحدد المتطلبات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154680" y="38862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D4A8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›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3364992" y="2743200"/>
            <a:ext cx="2697480" cy="2743200"/>
          </a:xfrm>
          <a:prstGeom prst="rect">
            <a:avLst/>
          </a:prstGeom>
          <a:solidFill>
            <a:srgbClr val="0A0A14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64992" y="2743200"/>
            <a:ext cx="2697480" cy="54864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5" name="Shape 13"/>
          <p:cNvSpPr/>
          <p:nvPr/>
        </p:nvSpPr>
        <p:spPr>
          <a:xfrm>
            <a:off x="4279392" y="3108960"/>
            <a:ext cx="868680" cy="868680"/>
          </a:xfrm>
          <a:prstGeom prst="ellipse">
            <a:avLst/>
          </a:prstGeom>
          <a:solidFill>
            <a:srgbClr val="D4A853">
              <a:alpha val="20000"/>
            </a:srgbClr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79392" y="31089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8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3547872" y="4160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نركّب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639312" y="46634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+ قفل ذكي + تابلت داخل الوحدة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71032" y="38862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D4A8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›</a:t>
            </a:r>
            <a:endParaRPr lang="en-US" sz="3200" dirty="0"/>
          </a:p>
        </p:txBody>
      </p:sp>
      <p:sp>
        <p:nvSpPr>
          <p:cNvPr id="20" name="Shape 18"/>
          <p:cNvSpPr/>
          <p:nvPr/>
        </p:nvSpPr>
        <p:spPr>
          <a:xfrm>
            <a:off x="6181344" y="2743200"/>
            <a:ext cx="2697480" cy="2743200"/>
          </a:xfrm>
          <a:prstGeom prst="rect">
            <a:avLst/>
          </a:prstGeom>
          <a:solidFill>
            <a:srgbClr val="0A0A1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81344" y="2743200"/>
            <a:ext cx="26974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Shape 20"/>
          <p:cNvSpPr/>
          <p:nvPr/>
        </p:nvSpPr>
        <p:spPr>
          <a:xfrm>
            <a:off x="7095744" y="3108960"/>
            <a:ext cx="868680" cy="868680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95744" y="31089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6364224" y="4160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ندرّب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455664" y="46634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نُدخل فريقك على النظام · ساعتين تدريب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787384" y="38862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D4A8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›</a:t>
            </a:r>
            <a:endParaRPr lang="en-US" sz="3200" dirty="0"/>
          </a:p>
        </p:txBody>
      </p:sp>
      <p:sp>
        <p:nvSpPr>
          <p:cNvPr id="27" name="Shape 25"/>
          <p:cNvSpPr/>
          <p:nvPr/>
        </p:nvSpPr>
        <p:spPr>
          <a:xfrm>
            <a:off x="8997696" y="2743200"/>
            <a:ext cx="2697480" cy="2743200"/>
          </a:xfrm>
          <a:prstGeom prst="rect">
            <a:avLst/>
          </a:prstGeom>
          <a:solidFill>
            <a:srgbClr val="0A0A14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997696" y="2743200"/>
            <a:ext cx="269748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9" name="Shape 27"/>
          <p:cNvSpPr/>
          <p:nvPr/>
        </p:nvSpPr>
        <p:spPr>
          <a:xfrm>
            <a:off x="9912096" y="3108960"/>
            <a:ext cx="868680" cy="868680"/>
          </a:xfrm>
          <a:prstGeom prst="ellipse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912096" y="31089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9180576" y="4160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ننمو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9272016" y="46634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ننتقل لـ 50 وحدة، 100، 200... شراكة طويلة الأمد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5760720"/>
            <a:ext cx="11064240" cy="822960"/>
          </a:xfrm>
          <a:prstGeom prst="rect">
            <a:avLst/>
          </a:prstGeom>
          <a:solidFill>
            <a:srgbClr val="0A0A14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" y="5852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 ضمانتنا لك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جرّب على 3 وحدات لمدة شهر · إذا ما حسّت شركتك بفرق، نسحب الأجهزة · بدون التزام طويل في البداية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303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0" y="-1828800"/>
            <a:ext cx="8229600" cy="8229600"/>
          </a:xfrm>
          <a:prstGeom prst="ellipse">
            <a:avLst/>
          </a:prstGeom>
          <a:solidFill>
            <a:srgbClr val="D4A85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2743200"/>
            <a:ext cx="7315200" cy="7315200"/>
          </a:xfrm>
          <a:prstGeom prst="ellipse">
            <a:avLst/>
          </a:prstGeom>
          <a:solidFill>
            <a:srgbClr val="64D2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8B8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STEP · الخطوة القادمة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نبدأ بـ 3 وحدات.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i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ونرى كيف يتغير كل شي.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548640" y="33832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4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نركّب · ندير · نقيس · ثم نقرر سوا الخطوة الأكبر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4251960"/>
            <a:ext cx="3611880" cy="1463040"/>
          </a:xfrm>
          <a:prstGeom prst="rect">
            <a:avLst/>
          </a:prstGeom>
          <a:solidFill>
            <a:srgbClr val="0A0A14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526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تجربة بدون مخاطرة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49377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وحدات · شهر واحد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343400" y="4251960"/>
            <a:ext cx="3611880" cy="1463040"/>
          </a:xfrm>
          <a:prstGeom prst="rect">
            <a:avLst/>
          </a:prstGeom>
          <a:solidFill>
            <a:srgbClr val="0A0A14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4526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نتائج بالأرقام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17720" y="49377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تقرير أداء بعد 30 يوم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138160" y="4251960"/>
            <a:ext cx="3611880" cy="1463040"/>
          </a:xfrm>
          <a:prstGeom prst="rect">
            <a:avLst/>
          </a:prstGeom>
          <a:solidFill>
            <a:srgbClr val="0A0A14"/>
          </a:solidFill>
          <a:ln w="12700">
            <a:solidFill>
              <a:srgbClr val="D4A85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4526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قرار مبني على واقع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12480" y="49377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تكمل أو ننسحب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48640" y="6217920"/>
            <a:ext cx="11064240" cy="0"/>
          </a:xfrm>
          <a:prstGeom prst="line">
            <a:avLst/>
          </a:prstGeom>
          <a:noFill/>
          <a:ln w="12700">
            <a:solidFill>
              <a:srgbClr val="1A1A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سليمان القحطاني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66294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8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مؤسس QLVN OS · جاهز للقاء التالي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0" y="6355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 اتفاق · لقاء · بداية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0" y="66294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4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· qdros-demo.netlify.app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QLVN OS - For Property Management Companies</dc:title>
  <dc:subject>PptxGenJS Presentation</dc:subject>
  <dc:creator>Sulaiman Al-Qahtani</dc:creator>
  <cp:lastModifiedBy>Sulaiman Al-Qahtani</cp:lastModifiedBy>
  <cp:revision>1</cp:revision>
  <dcterms:created xsi:type="dcterms:W3CDTF">2026-05-12T16:03:32Z</dcterms:created>
  <dcterms:modified xsi:type="dcterms:W3CDTF">2026-05-12T16:03:32Z</dcterms:modified>
</cp:coreProperties>
</file>